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Montserrat ExtraBold" panose="00000900000000000000" pitchFamily="2" charset="-94"/>
      <p:bold r:id="rId12"/>
      <p:boldItalic r:id="rId13"/>
    </p:embeddedFont>
    <p:embeddedFont>
      <p:font typeface="Montserrat SemiBold" panose="00000700000000000000" pitchFamily="2" charset="-94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Light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55321D-0014-46BE-AD93-3AEEE8BD7B1A}">
  <a:tblStyle styleId="{4155321D-0014-46BE-AD93-3AEEE8BD7B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jpe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jpe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676400" y="2374414"/>
            <a:ext cx="8839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GRAND BLACK SEA FORUM 2025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455419" y="2930584"/>
            <a:ext cx="928110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800" dirty="0" err="1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LockSense</a:t>
            </a:r>
            <a:endParaRPr lang="tr-TR" sz="480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lvl="0" algn="ctr"/>
            <a:r>
              <a:rPr lang="tr-TR" sz="2000" dirty="0">
                <a:solidFill>
                  <a:srgbClr val="FFFFFF"/>
                </a:solidFill>
                <a:latin typeface="Montserrat ExtraBold"/>
                <a:sym typeface="Montserrat ExtraBold"/>
              </a:rPr>
              <a:t>Masa 2</a:t>
            </a:r>
          </a:p>
        </p:txBody>
      </p:sp>
      <p:sp>
        <p:nvSpPr>
          <p:cNvPr id="86" name="Google Shape;86;p13"/>
          <p:cNvSpPr/>
          <p:nvPr/>
        </p:nvSpPr>
        <p:spPr>
          <a:xfrm>
            <a:off x="5619750" y="3959284"/>
            <a:ext cx="9525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676400" y="4302184"/>
            <a:ext cx="883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Smart Innovation Ideathon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323202" y="5304184"/>
            <a:ext cx="154553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TECHQUARTED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572125" y="5666045"/>
            <a:ext cx="1047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Trabzon, KTÜ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012" y="329102"/>
            <a:ext cx="3590625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037" y="329102"/>
            <a:ext cx="4108646" cy="119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31085" y="329100"/>
            <a:ext cx="2844063" cy="11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812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PROBLEM TESPITI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1414134"/>
            <a:ext cx="550068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100" dirty="0" err="1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Kurumsal</a:t>
            </a:r>
            <a:r>
              <a:rPr lang="en-US" sz="2100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2100" dirty="0" err="1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Güvenlikte</a:t>
            </a:r>
            <a:r>
              <a:rPr lang="en-US" sz="2100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"</a:t>
            </a:r>
            <a:r>
              <a:rPr lang="en-US" sz="2100" dirty="0" err="1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İnsan</a:t>
            </a:r>
            <a:r>
              <a:rPr lang="en-US" sz="2100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2100" dirty="0" err="1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Faktörü"nü</a:t>
            </a:r>
            <a:r>
              <a:rPr lang="en-US" sz="2100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2100" dirty="0" err="1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Devreden</a:t>
            </a:r>
            <a:r>
              <a:rPr lang="en-US" sz="2100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2100" dirty="0" err="1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Çıkarıyoruz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2060465"/>
            <a:ext cx="523875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Sorun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İnsan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Unutkanlığı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Güvenlik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Açığı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Araştırmalar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gösteriyor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ki "Temiz Masa"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"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Uzaklaş-Kilitle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"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kuralları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insan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doğası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gereği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sıkça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ihlal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ediliyor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Bir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kahve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molası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veya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acil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toplantı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sırasında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açık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unutulan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ekran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; KVKK/GDPR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ihlali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veri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hırsızlığına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davetiye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çıkarıyor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 dirty="0"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1275" y="209073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23900" y="3261153"/>
            <a:ext cx="495300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Kurumsal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ortamlarda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çalışanın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bilgisayarını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kilitlemeyi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unutması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nedeniyle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oluşan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Gözetimsiz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Erişim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(Unattended Access)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riski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.”</a:t>
            </a:r>
            <a:endParaRPr sz="1100"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4056848"/>
            <a:ext cx="495300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Clean Desk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Lock-on-Leave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gibi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manuel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güvenlik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politikaları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insan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davranışına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bağımlı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olduğu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için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tutarsızdır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pratikte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çalışmaz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.”</a:t>
            </a:r>
            <a:endParaRPr sz="11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5031754"/>
            <a:ext cx="4953000" cy="541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Gözetimsiz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bırakılan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bilgisayarlar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şirketlere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veri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ihlali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KVKK/GDPR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cezası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fikri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mülkiyet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kaybı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itibar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zedelenmesi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şeklinde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yüksek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maliyet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çıkarır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.”</a:t>
            </a:r>
            <a:endParaRPr sz="1100" dirty="0"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421" y="3386484"/>
            <a:ext cx="180975" cy="194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421" y="41314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421" y="501146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computer screen with red and blue text&#10;&#10;AI-generated content may be incorrect.">
            <a:extLst>
              <a:ext uri="{FF2B5EF4-FFF2-40B4-BE49-F238E27FC236}">
                <a16:creationId xmlns:a16="http://schemas.microsoft.com/office/drawing/2014/main" id="{1A58FE01-A3DA-3406-17CD-18F7B7416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2017115"/>
            <a:ext cx="5478638" cy="3864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432" y="1304925"/>
            <a:ext cx="3492549" cy="5176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6867" y="1409699"/>
            <a:ext cx="3492549" cy="517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409700"/>
            <a:ext cx="3492549" cy="517673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541249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ÇÖZÜM ÖNERISI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257228" y="1610180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YENILIKÇI FIKIR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999977" y="2026443"/>
            <a:ext cx="2873424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İnsan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faktöründen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bağımsız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çalışan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Akıllı PC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Kilidi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Çalışan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masadan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uzaklaşınca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cihaz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otomatik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kilitlenir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geri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geldiğinde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otomatik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açılır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.”</a:t>
            </a:r>
            <a:endParaRPr lang="tr-TR" sz="1000" dirty="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60000"/>
              </a:lnSpc>
            </a:pPr>
            <a:endParaRPr lang="tr-TR" sz="1000" dirty="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60000"/>
              </a:lnSpc>
            </a:pP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Detay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ESP32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tabanlı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IoT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mimarisi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kullanılarak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; Bluetooth RSSI, Wi-Fi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bağlantı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kaybı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MQTT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altyapısı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üzerinden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pasif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yakınlık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tespiti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yapılır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Sistem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çalışanı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düşünmekten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kurtaran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“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Uzaklaş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–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Kilitle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”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politikasını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tamamen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otomatikleştirir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insan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hatasını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ortadan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kaldırır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0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4994206" y="1535349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HEDEF KITLE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4626429" y="2013424"/>
            <a:ext cx="2873424" cy="413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Kurumsal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ofisler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bankalar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-Ge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merkezleri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çağrı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merkezleri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devlet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kurumları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hibrit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tüm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şirketler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bilgisayarında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mahrem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veri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bulunduran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bağımsız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profesyoneller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.”</a:t>
            </a:r>
            <a:endParaRPr lang="tr-TR" sz="1050" dirty="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60000"/>
              </a:lnSpc>
            </a:pPr>
            <a:endParaRPr lang="tr-TR" sz="1050" dirty="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60000"/>
              </a:lnSpc>
            </a:pP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Detay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Güvenlik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politikaları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olan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fakat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hatalarından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dolayı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risk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yaşayan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kurumlar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Remote /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hibrit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ekipler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KVKK/GDPR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uyumluluğu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sağlamak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isteyen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işletmeler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Kritik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veriye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sahip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sektörler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finans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sağlık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savunma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mühendislik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firmaları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) Freelancer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yazılımcılar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tasarımcılar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danışmanlar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avukatlar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muhasebeciler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laptoplarında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hassas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veri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taşıyan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tüm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bireysel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kullanıcılar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Kısaca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“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Gözetimsiz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erişim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”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riski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taşıyan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hem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kurumlar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hem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bireysel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profesyoneller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8922236" y="1563924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KATMA DEĞER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8461474" y="1992549"/>
            <a:ext cx="2873424" cy="321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İnsan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hatasını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ortadan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kaldıran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düşük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maliyetli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yerli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sürtünmesiz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güvenlik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çözümü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.”</a:t>
            </a:r>
            <a:endParaRPr lang="tr-TR" sz="1050" dirty="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60000"/>
              </a:lnSpc>
            </a:pPr>
            <a:endParaRPr lang="tr-TR" sz="1050" dirty="0">
              <a:solidFill>
                <a:srgbClr val="263238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60000"/>
              </a:lnSpc>
            </a:pP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Detay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Tam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otomatik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Çalışanın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bilgisayarı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kilitlemeyi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unutma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riskini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sıfırlar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7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saniyelik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tepki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süresi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Veri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ihlali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fırsat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penceresini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kapatır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Düşük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maliyetli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IoT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cihazı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Yüksek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güvenlik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yatırımlarına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kıyasla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çok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daha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ekonomik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Verimlilik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sağlar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Şifre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girme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yorgunluğunu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ortadan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kaldırır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KVKK/GDPR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uyumluluğu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için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teknik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tedbir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sağlar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Kısaca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Daha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hızlı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daha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ucuz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daha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güvenli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tamamen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yerli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bir</a:t>
            </a:r>
            <a:r>
              <a:rPr lang="en-US" sz="105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çözüm</a:t>
            </a:r>
            <a:r>
              <a:rPr lang="en-US" sz="15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227" y="154922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57290" y="150677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70974" y="1506774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812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TEKNIK MIMARI &amp; DEMEDUKIT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9073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250781" y="140970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DEMEDUKIT-BWS KULLANIMI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6250781" y="172878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Projenin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kalbi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olan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Demedukit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nasıl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kullanıldı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6286094" y="2182744"/>
            <a:ext cx="4953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000" b="1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Giriş</a:t>
            </a:r>
            <a:r>
              <a:rPr lang="en-US" sz="1000" b="1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000" b="1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Sensörler</a:t>
            </a:r>
            <a:r>
              <a:rPr lang="en-US" sz="1000" b="1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):</a:t>
            </a:r>
            <a:r>
              <a:rPr lang="en-US" sz="10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Bu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projede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fiziksel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sensör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yerine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ESP32’nin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varlık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bildirimi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giriş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verisi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olarak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kullanılır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ESP32 her 3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saniyede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MQTT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üzerinden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"MEVCUT"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mesajı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göndererek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sistemde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aktif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olduğunu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bildirir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Bu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mesajlar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; Wi-Fi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bağlantısı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MQTT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sunucusu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(broker.hivemq.com), /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pc_kilit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/status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konusu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(topic)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üzerinden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PC’ye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ulaşır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00"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6299063" y="3283934"/>
            <a:ext cx="49530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000" b="1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İşleme</a:t>
            </a:r>
            <a:r>
              <a:rPr lang="en-US" sz="1000" b="1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PC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tarafındaki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Python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uygulaması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şu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işlemleri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yapar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MQTT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üzerinden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gelen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"MEVCUT"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mesajlarını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dinler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Her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mesaj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geldiğinde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son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görünme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zamanı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güncellenir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Eğer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ESP32’den 7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saniyeden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uzun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süre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mesaj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gelmezse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sistem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bunu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cihaz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kayboldu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olarak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değerlendirir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Bu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durumda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Python’daki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zaman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aşımı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algoritması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çalışır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karar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mekanizması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şu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işlemi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yapar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→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Bilgisayarı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kilitle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(Windows: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LockWorkStation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())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Eğer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cihaz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yeniden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görülürse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→ “</a:t>
            </a:r>
            <a:r>
              <a:rPr lang="tr-TR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UNLOCKED(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Cihaz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Göründ</a:t>
            </a:r>
            <a:r>
              <a:rPr lang="tr-TR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ü)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”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mesajı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verilir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kilit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açmak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kullanıcıya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bağlıdır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000"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6250781" y="5136980"/>
            <a:ext cx="49530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000" b="1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Çıkış</a:t>
            </a:r>
            <a:r>
              <a:rPr lang="en-US" sz="1000" b="1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000" b="1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Aktüatörler</a:t>
            </a:r>
            <a:r>
              <a:rPr lang="en-US" sz="1000" b="1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):</a:t>
            </a:r>
            <a:r>
              <a:rPr lang="en-US" sz="10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Bu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projede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fiziksel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aktüatör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yerine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PC’nin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kendi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işletim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sistemi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davranışı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aktüatör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olarak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kullanılır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Python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tarafında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karar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mekanizması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sonucunda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Bilgisayar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kilidi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devreye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alınır</a:t>
            </a:r>
            <a:r>
              <a:rPr lang="tr-TR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(LOCKED)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Windows API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çağrısı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: ctypes.windll.user32.LockWorkStation()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Kullanıcı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geri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geldiğinde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ESP32’den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tekrar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"MEVCUT"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mesajı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alınır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sistem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→ “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Cihaz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Göründü</a:t>
            </a:r>
            <a:r>
              <a:rPr lang="tr-TR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(UNLOCKED)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”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uyarısı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üretir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 (Not: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Güvenlik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nedeniyle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otomatik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kilit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açma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yapılamaz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.) Bu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çıkış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aslında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bir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uyarı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güvenlik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aksiyonudur</a:t>
            </a:r>
            <a:r>
              <a:rPr lang="en-US" sz="10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00" dirty="0"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2922" y="22136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8868" y="3318093"/>
            <a:ext cx="211577" cy="221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63864" y="523327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0DD95F1B-CAAE-4F26-F547-9855F9400B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88" y="2090737"/>
            <a:ext cx="5704719" cy="37909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1500187"/>
            <a:ext cx="88392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385762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PROTOTIP &amp; DEMO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1081087"/>
            <a:ext cx="110490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2492915" y="6319838"/>
            <a:ext cx="6953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Ideathon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sürecinde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geliştirilen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MVP'nin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(Minimum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Uygulanabilir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Ürün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çalışma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anı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5925" y="1509712"/>
            <a:ext cx="882015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computer screen with a green light&#10;&#10;AI-generated content may be incorrect.">
            <a:extLst>
              <a:ext uri="{FF2B5EF4-FFF2-40B4-BE49-F238E27FC236}">
                <a16:creationId xmlns:a16="http://schemas.microsoft.com/office/drawing/2014/main" id="{0EE80E50-E11A-E6EC-FA6A-0EC336C8A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925" y="1157287"/>
            <a:ext cx="8839200" cy="51625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5. BEKLENEN FAYDALAR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18"/>
          <p:cNvGraphicFramePr/>
          <p:nvPr>
            <p:extLst>
              <p:ext uri="{D42A27DB-BD31-4B8C-83A1-F6EECF244321}">
                <p14:modId xmlns:p14="http://schemas.microsoft.com/office/powerpoint/2010/main" val="1359249316"/>
              </p:ext>
            </p:extLst>
          </p:nvPr>
        </p:nvGraphicFramePr>
        <p:xfrm>
          <a:off x="571500" y="1330156"/>
          <a:ext cx="11049000" cy="5274012"/>
        </p:xfrm>
        <a:graphic>
          <a:graphicData uri="http://schemas.openxmlformats.org/drawingml/2006/table">
            <a:tbl>
              <a:tblPr firstRow="1" bandRow="1">
                <a:noFill/>
                <a:tableStyleId>{4155321D-0014-46BE-AD93-3AEEE8BD7B1A}</a:tableStyleId>
              </a:tblPr>
              <a:tblGrid>
                <a:gridCol w="1704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9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610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Kategori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Beklenen Çıktı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DEMSAY &amp; Sektör İçin Önemi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56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Teknik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Gözetimsiz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erişim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riskinin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ortadan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kaldırılması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otomatik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kilitleme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ile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insan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hatasının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%100'e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yakın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azaltılması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güvenlik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politikalarında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tutarlılık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Kurumların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yüksek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güvenlik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standartlarına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uyumu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KVKK/GDPR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gerekliliklerinin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teknik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olarak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desteklenmesi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modern IoT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tabanlı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güvenlik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altyapılarına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geçiş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610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Ekonomik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Veri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ihlali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maliyetlerinin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düşmesi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ceza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itibar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kaybı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riskinin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azaltılması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düşük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maliyetli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IoT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çözümü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sayesinde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güvenlik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yatırımlarında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tasarruf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İthal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güvenlik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donanımlarının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yerine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yerli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üretimin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kullanılması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düşük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maliyetle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yüksek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koruma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sağlayarak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kurumların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bütçesine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katkı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610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Sosyal / Çevresel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/>
                        <a:t>Çalışan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verimliliğinin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artması</a:t>
                      </a:r>
                      <a:r>
                        <a:rPr lang="en-GB" sz="1600" dirty="0"/>
                        <a:t> (</a:t>
                      </a:r>
                      <a:r>
                        <a:rPr lang="en-GB" sz="1600" dirty="0" err="1"/>
                        <a:t>şifre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girme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yükünün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azalması</a:t>
                      </a:r>
                      <a:r>
                        <a:rPr lang="en-GB" sz="1600" dirty="0"/>
                        <a:t>), </a:t>
                      </a:r>
                      <a:r>
                        <a:rPr lang="en-GB" sz="1600" dirty="0" err="1"/>
                        <a:t>güvenlik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yorgunluğunun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ortadan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kalkması</a:t>
                      </a:r>
                      <a:r>
                        <a:rPr lang="en-GB" sz="1600" dirty="0"/>
                        <a:t>, </a:t>
                      </a:r>
                      <a:r>
                        <a:rPr lang="en-GB" sz="1600" dirty="0" err="1"/>
                        <a:t>enerji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tasarrufu</a:t>
                      </a:r>
                      <a:r>
                        <a:rPr lang="en-GB" sz="1600" dirty="0"/>
                        <a:t> (</a:t>
                      </a:r>
                      <a:r>
                        <a:rPr lang="en-GB" sz="1600" dirty="0" err="1"/>
                        <a:t>bilgisayarların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boşa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açık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kalmaması</a:t>
                      </a:r>
                      <a:r>
                        <a:rPr lang="en-GB" sz="1600" dirty="0"/>
                        <a:t>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Dijital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güvenliğin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yaygınlaşmasıyla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sürdürülebilir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iş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süreçlerine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katkı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çalışan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memnuniyetinin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artması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daha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güvenli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çalışma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kültürünün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desteklenmesi</a:t>
                      </a:r>
                      <a:r>
                        <a:rPr lang="en-US" sz="1500" b="0" i="0" u="none" strike="noStrike" cap="none" dirty="0">
                          <a:solidFill>
                            <a:srgbClr val="2632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9" name="Google Shape;159;p18"/>
          <p:cNvSpPr/>
          <p:nvPr/>
        </p:nvSpPr>
        <p:spPr>
          <a:xfrm>
            <a:off x="571500" y="3967162"/>
            <a:ext cx="184472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2416224" y="3967162"/>
            <a:ext cx="481250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7228730" y="3967162"/>
            <a:ext cx="43917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78505" y="4158878"/>
            <a:ext cx="184472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2416224" y="4567237"/>
            <a:ext cx="481250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7228730" y="4567237"/>
            <a:ext cx="43917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71500" y="5167312"/>
            <a:ext cx="184472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2416224" y="5167312"/>
            <a:ext cx="481250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228730" y="5167312"/>
            <a:ext cx="43917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010" y="2650888"/>
            <a:ext cx="3492549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738437"/>
            <a:ext cx="3492549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738437"/>
            <a:ext cx="3492549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6. GELECEK PLANI (ROADMAP)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904875" y="3024187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0-3 AY (KISA VADE)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04875" y="3429000"/>
            <a:ext cx="2873424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Prototipin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ofis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hibrit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çalışma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ortamlarında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saha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testlerinin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yapılması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RSSI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tabanlı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yakınlık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algılama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otomatik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kilitleme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algoritmalarının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optimize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edilmesi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MQTT–Wi-Fi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entegrasyonunun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stabil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hâle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getirilmesi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Eksik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sensörlerin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donanımların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belirlenmesi</a:t>
            </a:r>
            <a:endParaRPr sz="1100"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4683174" y="3024187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3-12 AY (ORTA VADE)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683174" y="3333106"/>
            <a:ext cx="2873424" cy="189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Nihai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ürün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için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PCB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tasarımı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endüstriyel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kutu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geliştirilmesi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Güvenlik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testleri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penetrasyon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veri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sızıntısı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senaryoları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kesinti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dayanıklılığı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) DEMSAY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ile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ortak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Ar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-Ge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projesi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başvuruları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(TÜBİTAK, KOSGEB vb.) Pilot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kullanım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için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kurumsal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şirketlerde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deneme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dağıtımı</a:t>
            </a:r>
            <a:endParaRPr sz="1100"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8461474" y="3024187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 YIL+ (UZUN VADE)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533309" y="3429000"/>
            <a:ext cx="2873424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Ürünün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ticarileştirilmesi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marka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tescili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CE, FCC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benzeri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sertifikasyon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süreçlerinin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tamamlanması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Seri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üretime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geçiş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satış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kanallarının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oluşturulması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Yazılım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güncellemeleri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bulut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paneli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ve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kullanıcı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yönetimi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özelliklerinin</a:t>
            </a:r>
            <a:r>
              <a:rPr lang="en-US" sz="11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00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geliştirilmesi</a:t>
            </a:r>
            <a:endParaRPr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1" y="2386012"/>
            <a:ext cx="1831231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8417" y="2410837"/>
            <a:ext cx="1731270" cy="176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12336" y="2377879"/>
            <a:ext cx="2178593" cy="176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9887" y="248126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44118" y="258915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87259" y="264064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TAKIMIMIZ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-137" y="4222459"/>
            <a:ext cx="301709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dirty="0">
                <a:solidFill>
                  <a:srgbClr val="263238"/>
                </a:solidFill>
                <a:latin typeface="Montserrat SemiBold"/>
                <a:sym typeface="Montserrat SemiBold"/>
              </a:rPr>
              <a:t>Vahit Hamza Baran</a:t>
            </a:r>
            <a:endParaRPr dirty="0"/>
          </a:p>
        </p:txBody>
      </p:sp>
      <p:sp>
        <p:nvSpPr>
          <p:cNvPr id="196" name="Google Shape;196;p20"/>
          <p:cNvSpPr txBox="1"/>
          <p:nvPr/>
        </p:nvSpPr>
        <p:spPr>
          <a:xfrm>
            <a:off x="123205" y="4532278"/>
            <a:ext cx="287342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Proje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Yöneticisi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Yazılım</a:t>
            </a:r>
            <a:endParaRPr dirty="0"/>
          </a:p>
        </p:txBody>
      </p:sp>
      <p:sp>
        <p:nvSpPr>
          <p:cNvPr id="197" name="Google Shape;197;p20"/>
          <p:cNvSpPr txBox="1"/>
          <p:nvPr/>
        </p:nvSpPr>
        <p:spPr>
          <a:xfrm>
            <a:off x="2749945" y="4241131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0" i="0" u="none" strike="noStrike" cap="none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Nezir Erdoğan</a:t>
            </a:r>
            <a:endParaRPr dirty="0"/>
          </a:p>
        </p:txBody>
      </p:sp>
      <p:sp>
        <p:nvSpPr>
          <p:cNvPr id="198" name="Google Shape;198;p20"/>
          <p:cNvSpPr txBox="1"/>
          <p:nvPr/>
        </p:nvSpPr>
        <p:spPr>
          <a:xfrm>
            <a:off x="2893616" y="4514518"/>
            <a:ext cx="287342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Gömülü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Sistemler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Donanım</a:t>
            </a:r>
            <a:endParaRPr dirty="0"/>
          </a:p>
        </p:txBody>
      </p:sp>
      <p:sp>
        <p:nvSpPr>
          <p:cNvPr id="199" name="Google Shape;199;p20"/>
          <p:cNvSpPr txBox="1"/>
          <p:nvPr/>
        </p:nvSpPr>
        <p:spPr>
          <a:xfrm>
            <a:off x="8821248" y="4268322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0" i="0" u="none" strike="noStrike" cap="none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Nuran Ergenç</a:t>
            </a:r>
            <a:endParaRPr dirty="0"/>
          </a:p>
        </p:txBody>
      </p:sp>
      <p:sp>
        <p:nvSpPr>
          <p:cNvPr id="200" name="Google Shape;200;p20"/>
          <p:cNvSpPr txBox="1"/>
          <p:nvPr/>
        </p:nvSpPr>
        <p:spPr>
          <a:xfrm>
            <a:off x="8893084" y="4550911"/>
            <a:ext cx="287342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Tasarım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İş</a:t>
            </a:r>
            <a:r>
              <a:rPr lang="en-US" sz="1500" b="0" i="0" u="none" strike="noStrike" cap="none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Geliştirme</a:t>
            </a:r>
            <a:endParaRPr dirty="0"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9887" y="2481262"/>
            <a:ext cx="1409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44118" y="2589152"/>
            <a:ext cx="1409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06309" y="2643187"/>
            <a:ext cx="1409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89;p20" descr="image.png">
            <a:extLst>
              <a:ext uri="{FF2B5EF4-FFF2-40B4-BE49-F238E27FC236}">
                <a16:creationId xmlns:a16="http://schemas.microsoft.com/office/drawing/2014/main" id="{40EF94C4-79E2-4C19-AD86-AD60B01D3F8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1642" y="2346227"/>
            <a:ext cx="1956924" cy="1781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03;p20" descr="image.png">
            <a:extLst>
              <a:ext uri="{FF2B5EF4-FFF2-40B4-BE49-F238E27FC236}">
                <a16:creationId xmlns:a16="http://schemas.microsoft.com/office/drawing/2014/main" id="{8D5B563B-2D0D-DB6D-A948-08F9BF3A42A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95381" y="2532192"/>
            <a:ext cx="14097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99;p20">
            <a:extLst>
              <a:ext uri="{FF2B5EF4-FFF2-40B4-BE49-F238E27FC236}">
                <a16:creationId xmlns:a16="http://schemas.microsoft.com/office/drawing/2014/main" id="{A2705A52-82ED-6C95-F8D8-3BEF4D11A028}"/>
              </a:ext>
            </a:extLst>
          </p:cNvPr>
          <p:cNvSpPr txBox="1"/>
          <p:nvPr/>
        </p:nvSpPr>
        <p:spPr>
          <a:xfrm>
            <a:off x="5691556" y="4271455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0" i="0" u="none" strike="noStrike" cap="none" dirty="0">
                <a:solidFill>
                  <a:srgbClr val="26323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Miray Tiryaki</a:t>
            </a:r>
            <a:endParaRPr dirty="0"/>
          </a:p>
        </p:txBody>
      </p:sp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D80D552E-0133-410E-4070-65B27240DB37}"/>
              </a:ext>
            </a:extLst>
          </p:cNvPr>
          <p:cNvSpPr txBox="1"/>
          <p:nvPr/>
        </p:nvSpPr>
        <p:spPr>
          <a:xfrm>
            <a:off x="5835227" y="4518645"/>
            <a:ext cx="28734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dirty="0">
                <a:solidFill>
                  <a:srgbClr val="263238"/>
                </a:solidFill>
                <a:latin typeface="Roboto"/>
                <a:ea typeface="Roboto"/>
                <a:cs typeface="Roboto"/>
                <a:sym typeface="Roboto"/>
              </a:rPr>
              <a:t>Tasarım &amp; İş Geliştirme</a:t>
            </a:r>
            <a:endParaRPr dirty="0"/>
          </a:p>
        </p:txBody>
      </p:sp>
      <p:pic>
        <p:nvPicPr>
          <p:cNvPr id="13" name="Picture 12" descr="A person taking a selfie&#10;&#10;AI-generated content may be incorrect.">
            <a:extLst>
              <a:ext uri="{FF2B5EF4-FFF2-40B4-BE49-F238E27FC236}">
                <a16:creationId xmlns:a16="http://schemas.microsoft.com/office/drawing/2014/main" id="{4A908CE8-E1BA-4FB8-20E4-7FA3A72DEF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46442" y="1730711"/>
            <a:ext cx="2224099" cy="2508994"/>
          </a:xfrm>
          <a:prstGeom prst="rect">
            <a:avLst/>
          </a:prstGeom>
        </p:spPr>
      </p:pic>
      <p:pic>
        <p:nvPicPr>
          <p:cNvPr id="15" name="Picture 14" descr="A person in a green sweater&#10;&#10;AI-generated content may be incorrect.">
            <a:extLst>
              <a:ext uri="{FF2B5EF4-FFF2-40B4-BE49-F238E27FC236}">
                <a16:creationId xmlns:a16="http://schemas.microsoft.com/office/drawing/2014/main" id="{2C041BA4-0691-029B-1C08-8F4C2D39B94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1747299"/>
            <a:ext cx="2328328" cy="2508994"/>
          </a:xfrm>
          <a:prstGeom prst="rect">
            <a:avLst/>
          </a:prstGeom>
        </p:spPr>
      </p:pic>
      <p:pic>
        <p:nvPicPr>
          <p:cNvPr id="17" name="Picture 16" descr="A person taking a selfie&#10;&#10;AI-generated content may be incorrect.">
            <a:extLst>
              <a:ext uri="{FF2B5EF4-FFF2-40B4-BE49-F238E27FC236}">
                <a16:creationId xmlns:a16="http://schemas.microsoft.com/office/drawing/2014/main" id="{E20D6426-C29E-DA17-9DE4-5B2E9D99F1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9787" y="1747299"/>
            <a:ext cx="2688556" cy="2492406"/>
          </a:xfrm>
          <a:prstGeom prst="rect">
            <a:avLst/>
          </a:prstGeom>
        </p:spPr>
      </p:pic>
      <p:pic>
        <p:nvPicPr>
          <p:cNvPr id="19" name="Picture 18" descr="A person taking a selfie&#10;&#10;AI-generated content may be incorrect.">
            <a:extLst>
              <a:ext uri="{FF2B5EF4-FFF2-40B4-BE49-F238E27FC236}">
                <a16:creationId xmlns:a16="http://schemas.microsoft.com/office/drawing/2014/main" id="{DDC18DCC-A014-BCBE-A6FA-77B80B6E13A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376" y="1730710"/>
            <a:ext cx="2187081" cy="24723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/>
        </p:nvSpPr>
        <p:spPr>
          <a:xfrm>
            <a:off x="295275" y="1809750"/>
            <a:ext cx="116014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TEŞEKKÜRLER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28384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Sorularınız?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956</Words>
  <Application>Microsoft Office PowerPoint</Application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Roboto</vt:lpstr>
      <vt:lpstr>Montserrat ExtraBold</vt:lpstr>
      <vt:lpstr>Montserrat SemiBold</vt:lpstr>
      <vt:lpstr>Calibri</vt:lpstr>
      <vt:lpstr>Roboto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Hamza Baran</dc:creator>
  <cp:lastModifiedBy>Vahit Hamza Baran</cp:lastModifiedBy>
  <cp:revision>5</cp:revision>
  <dcterms:modified xsi:type="dcterms:W3CDTF">2025-12-12T07:48:37Z</dcterms:modified>
</cp:coreProperties>
</file>